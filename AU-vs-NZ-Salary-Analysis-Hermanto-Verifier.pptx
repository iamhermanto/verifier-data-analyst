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0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610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86351"/>
            <a:ext cx="62795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AU vs NZ Salary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5855"/>
            <a:ext cx="61082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Cost Savings Assessment for Position Relocation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6803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FY 2024-2025 | 36 Comparable Roles Analyzed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9378"/>
            <a:ext cx="579227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Data Quality &amp; Cleaning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951315"/>
            <a:ext cx="4168021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42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1531025" y="293155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Total Rows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93790" y="3397329"/>
            <a:ext cx="41680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Processed and reviewed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231130" y="1951315"/>
            <a:ext cx="4168021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36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5968365" y="293155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Clean Rows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231130" y="3397329"/>
            <a:ext cx="41680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Validated for analysis (85.7%)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68470" y="1951315"/>
            <a:ext cx="4168140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6</a:t>
            </a:r>
            <a:endParaRPr lang="en-US" sz="5550" dirty="0"/>
          </a:p>
        </p:txBody>
      </p:sp>
      <p:sp>
        <p:nvSpPr>
          <p:cNvPr id="10" name="Text 8"/>
          <p:cNvSpPr/>
          <p:nvPr/>
        </p:nvSpPr>
        <p:spPr>
          <a:xfrm>
            <a:off x="10405705" y="293155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Rejected Rows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68470" y="3397329"/>
            <a:ext cx="41681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Quality issues identified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3790" y="4092233"/>
            <a:ext cx="13042821" cy="34528"/>
          </a:xfrm>
          <a:prstGeom prst="rect">
            <a:avLst/>
          </a:prstGeom>
          <a:solidFill>
            <a:srgbClr val="4A4A45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793790" y="4449842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Rejection Breakdown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793790" y="5291376"/>
            <a:ext cx="107633" cy="107633"/>
          </a:xfrm>
          <a:prstGeom prst="roundRect">
            <a:avLst>
              <a:gd name="adj" fmla="val 424777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1116806" y="517695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Invalid IRD numbers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16806" y="5642729"/>
            <a:ext cx="384500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3 records excluded due to identification errors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231130" y="5291376"/>
            <a:ext cx="107633" cy="107633"/>
          </a:xfrm>
          <a:prstGeom prst="roundRect">
            <a:avLst>
              <a:gd name="adj" fmla="val 424777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554147" y="5176957"/>
            <a:ext cx="31884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Suspicious net/gross ratios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554147" y="5642729"/>
            <a:ext cx="384500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2 records flagged for anomalous calculations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668470" y="5291376"/>
            <a:ext cx="107633" cy="107633"/>
          </a:xfrm>
          <a:prstGeom prst="roundRect">
            <a:avLst>
              <a:gd name="adj" fmla="val 424777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9991487" y="517695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Duplicate entries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991487" y="5642729"/>
            <a:ext cx="384512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1 record resolved by retaining lowest amounts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93790" y="6574750"/>
            <a:ext cx="13042821" cy="915472"/>
          </a:xfrm>
          <a:prstGeom prst="roundRect">
            <a:avLst>
              <a:gd name="adj" fmla="val 3531"/>
            </a:avLst>
          </a:prstGeom>
          <a:solidFill>
            <a:srgbClr val="DBDBD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74" y="6906935"/>
            <a:ext cx="269319" cy="2153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93877" y="6843951"/>
            <a:ext cx="12127349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Exchange rate applied: 1 NZD = 0.92 AUD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309304"/>
            <a:ext cx="3325654" cy="41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Statistical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16280" y="778053"/>
            <a:ext cx="3494127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Paired t-test comparing AU vs NZ gross salaries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854" y="1185366"/>
            <a:ext cx="8578572" cy="480393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6280" y="6205318"/>
            <a:ext cx="13197840" cy="24170"/>
          </a:xfrm>
          <a:prstGeom prst="rect">
            <a:avLst/>
          </a:prstGeom>
          <a:solidFill>
            <a:srgbClr val="4A4A45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716280" y="6511984"/>
            <a:ext cx="199536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Statistical Results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16280" y="6894413"/>
            <a:ext cx="643663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Sample size: 36 paired observations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6280" y="7153731"/>
            <a:ext cx="643663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t-statistic: -6.25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6280" y="7413049"/>
            <a:ext cx="643663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p-value: &lt; 0.0001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6280" y="7672367"/>
            <a:ext cx="643663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Salary difference: </a:t>
            </a:r>
            <a:r>
              <a:rPr lang="en-US" sz="1000" b="1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$46,919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85102" y="6511984"/>
            <a:ext cx="199536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Key Findings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485102" y="6894413"/>
            <a:ext cx="643663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282824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NZ positions cost 38.4% more than AU positions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85102" y="7226836"/>
            <a:ext cx="643663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Highly significant statistical difference confirms substantial cost variance between markets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6841" y="754737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Cost Savings Analysis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26841" y="17115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Future AU Positions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26841" y="2147292"/>
            <a:ext cx="6313884" cy="1063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0"/>
              </a:lnSpc>
              <a:buNone/>
            </a:pPr>
            <a:r>
              <a:rPr lang="en-US" sz="665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43</a:t>
            </a:r>
            <a:endParaRPr lang="en-US" sz="6650" dirty="0"/>
          </a:p>
        </p:txBody>
      </p:sp>
      <p:sp>
        <p:nvSpPr>
          <p:cNvPr id="5" name="Text 3"/>
          <p:cNvSpPr/>
          <p:nvPr/>
        </p:nvSpPr>
        <p:spPr>
          <a:xfrm>
            <a:off x="7563397" y="17115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Future NZ Positions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63397" y="2147292"/>
            <a:ext cx="6313884" cy="1063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0"/>
              </a:lnSpc>
              <a:buNone/>
            </a:pPr>
            <a:r>
              <a:rPr lang="en-US" sz="665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39</a:t>
            </a:r>
            <a:endParaRPr lang="en-US" sz="6650" dirty="0"/>
          </a:p>
        </p:txBody>
      </p:sp>
      <p:sp>
        <p:nvSpPr>
          <p:cNvPr id="7" name="Text 5"/>
          <p:cNvSpPr/>
          <p:nvPr/>
        </p:nvSpPr>
        <p:spPr>
          <a:xfrm>
            <a:off x="826841" y="374189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Scenario 1: AU → NZ</a:t>
            </a:r>
            <a:endParaRPr lang="en-US" sz="1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41" y="4198977"/>
            <a:ext cx="4735354" cy="2651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6841" y="7042071"/>
            <a:ext cx="6313884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Cost Increase: -$2.02M (-38%) </a:t>
            </a: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⚠</a:t>
            </a:r>
            <a:r>
              <a:rPr lang="en-US" sz="13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NOT RECOMMENDED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63397" y="374189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Scenario 2: NZ → AU</a:t>
            </a:r>
            <a:endParaRPr lang="en-US" sz="1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397" y="4198977"/>
            <a:ext cx="4735354" cy="2651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63397" y="7042071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Savings: </a:t>
            </a:r>
            <a:r>
              <a:rPr lang="en-US" sz="1300" b="1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+$1.83M (+28%) ✓ RECOMMENDED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1183"/>
            <a:ext cx="688895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Key Takeaways &amp; Recommendations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048941" y="2018109"/>
            <a:ext cx="1238702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Relocate future NZ positions to Australia to achieve $1.83M in annual cost savings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1048941" y="2698552"/>
            <a:ext cx="1278767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27.7% reduction in compensation costs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3790" y="1762958"/>
            <a:ext cx="22860" cy="1399103"/>
          </a:xfrm>
          <a:prstGeom prst="rect">
            <a:avLst/>
          </a:prstGeom>
          <a:solidFill>
            <a:srgbClr val="28282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93790" y="3438431"/>
            <a:ext cx="13042821" cy="28813"/>
          </a:xfrm>
          <a:prstGeom prst="rect">
            <a:avLst/>
          </a:prstGeom>
          <a:solidFill>
            <a:srgbClr val="4A4A45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793790" y="3658553"/>
            <a:ext cx="6436400" cy="1297900"/>
          </a:xfrm>
          <a:prstGeom prst="roundRect">
            <a:avLst>
              <a:gd name="adj" fmla="val 8454"/>
            </a:avLst>
          </a:prstGeom>
          <a:solidFill>
            <a:srgbClr val="EFECE6"/>
          </a:solidFill>
          <a:ln w="22860">
            <a:solidFill>
              <a:srgbClr val="2828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770930" y="3658553"/>
            <a:ext cx="91440" cy="129790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055251" y="385143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Immediate Impact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55251" y="4219218"/>
            <a:ext cx="59820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Moving NZ positions to AU delivers substantial savings while maintaining operational capability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0211" y="3658553"/>
            <a:ext cx="6436400" cy="1297900"/>
          </a:xfrm>
          <a:prstGeom prst="roundRect">
            <a:avLst>
              <a:gd name="adj" fmla="val 8454"/>
            </a:avLst>
          </a:prstGeom>
          <a:solidFill>
            <a:srgbClr val="EFECE6"/>
          </a:solidFill>
          <a:ln w="22860">
            <a:solidFill>
              <a:srgbClr val="2828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7377351" y="3658553"/>
            <a:ext cx="91440" cy="129790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7661672" y="385143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Avoid NZ Expansion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661672" y="4219218"/>
            <a:ext cx="59820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AU to NZ relocation increases costs by 38.4%—not financially viable under current conditions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3790" y="5126474"/>
            <a:ext cx="6436400" cy="1297900"/>
          </a:xfrm>
          <a:prstGeom prst="roundRect">
            <a:avLst>
              <a:gd name="adj" fmla="val 8454"/>
            </a:avLst>
          </a:prstGeom>
          <a:solidFill>
            <a:srgbClr val="EFECE6"/>
          </a:solidFill>
          <a:ln w="22860">
            <a:solidFill>
              <a:srgbClr val="2828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770930" y="5126474"/>
            <a:ext cx="91440" cy="129790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1055251" y="531935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Exchange Rate Risk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55251" y="5687139"/>
            <a:ext cx="59820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Monitor NZD/AUD fluctuations (currently 0.92)—could impact projected savings by ±5-8%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00211" y="5126474"/>
            <a:ext cx="6436400" cy="1297900"/>
          </a:xfrm>
          <a:prstGeom prst="roundRect">
            <a:avLst>
              <a:gd name="adj" fmla="val 8454"/>
            </a:avLst>
          </a:prstGeom>
          <a:solidFill>
            <a:srgbClr val="EFECE6"/>
          </a:solidFill>
          <a:ln w="22860">
            <a:solidFill>
              <a:srgbClr val="2828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7377351" y="5126474"/>
            <a:ext cx="91440" cy="129790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7661672" y="5319355"/>
            <a:ext cx="237696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Implementation Strategy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661672" y="5687139"/>
            <a:ext cx="59820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Phase relocation over 12-18 months, validate talent availability in Australian markets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3790" y="6615708"/>
            <a:ext cx="13042821" cy="722709"/>
          </a:xfrm>
          <a:prstGeom prst="roundRect">
            <a:avLst>
              <a:gd name="adj" fmla="val 3531"/>
            </a:avLst>
          </a:prstGeom>
          <a:solidFill>
            <a:srgbClr val="DBDBD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11" y="6877526"/>
            <a:ext cx="212646" cy="17002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46478" y="6828234"/>
            <a:ext cx="1232011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Data Quality: 85.7% validation rate across 36 comparable roles ensures robust analysis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288</Words>
  <Application>Microsoft Office PowerPoint</Application>
  <PresentationFormat>Custom</PresentationFormat>
  <Paragraphs>57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Hermanto Kho</cp:lastModifiedBy>
  <cp:revision>2</cp:revision>
  <dcterms:created xsi:type="dcterms:W3CDTF">2025-11-29T02:41:37Z</dcterms:created>
  <dcterms:modified xsi:type="dcterms:W3CDTF">2025-11-29T02:43:37Z</dcterms:modified>
</cp:coreProperties>
</file>